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8288000" cy="10287000"/>
  <p:notesSz cx="6858000" cy="9144000"/>
  <p:embeddedFontLst>
    <p:embeddedFont>
      <p:font typeface="Aileron" panose="020B0604020202020204" charset="0"/>
      <p:regular r:id="rId14"/>
    </p:embeddedFont>
    <p:embeddedFont>
      <p:font typeface="Aileron Bold" panose="020B0604020202020204" charset="0"/>
      <p:regular r:id="rId15"/>
    </p:embeddedFont>
    <p:embeddedFont>
      <p:font typeface="Bricolage Grotesque Bold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Proxima Nova" panose="020B0604020202020204" charset="0"/>
      <p:regular r:id="rId18"/>
    </p:embeddedFont>
    <p:embeddedFont>
      <p:font typeface="Tw Cen MT" panose="020B06020201040206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21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3457577" cy="10287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4637" y="1683545"/>
            <a:ext cx="13187363" cy="35814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4637" y="5403057"/>
            <a:ext cx="13187363" cy="2483643"/>
          </a:xfrm>
        </p:spPr>
        <p:txBody>
          <a:bodyPr>
            <a:normAutofit/>
          </a:bodyPr>
          <a:lstStyle>
            <a:lvl1pPr marL="0" indent="0" algn="l">
              <a:buNone/>
              <a:defRPr sz="3000" cap="all" baseline="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16267" y="8115302"/>
            <a:ext cx="41148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4636" y="8115302"/>
            <a:ext cx="7687329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845367" y="8115299"/>
            <a:ext cx="1156634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5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7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128840"/>
            <a:ext cx="14859000" cy="4279106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636543"/>
            <a:ext cx="14859000" cy="2062164"/>
          </a:xfrm>
        </p:spPr>
        <p:txBody>
          <a:bodyPr>
            <a:normAutofit/>
          </a:bodyPr>
          <a:lstStyle>
            <a:lvl1pPr marL="0" indent="0">
              <a:buNone/>
              <a:defRPr sz="27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1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6" y="3374229"/>
            <a:ext cx="7317584" cy="53125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1" y="3374229"/>
            <a:ext cx="7312817" cy="53125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8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928690"/>
            <a:ext cx="14859000" cy="2216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5029" y="3374229"/>
            <a:ext cx="6974675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6" y="4610096"/>
            <a:ext cx="7317587" cy="4076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01212" y="3374228"/>
            <a:ext cx="6969903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610096"/>
            <a:ext cx="7312815" cy="4076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5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4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058" y="914402"/>
            <a:ext cx="5784056" cy="245982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4301" y="888999"/>
            <a:ext cx="8836814" cy="77978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0058" y="3374229"/>
            <a:ext cx="5784056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8901762" cy="245982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071082" y="914402"/>
            <a:ext cx="5500035" cy="77723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3374229"/>
            <a:ext cx="8901767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9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6456997"/>
            <a:ext cx="14868533" cy="122903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2117" y="909639"/>
            <a:ext cx="14868531" cy="4949667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48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7686030"/>
            <a:ext cx="14866289" cy="10237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5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85" y="914400"/>
            <a:ext cx="14858933" cy="5143500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6629399"/>
            <a:ext cx="14856689" cy="2057399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7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399"/>
            <a:ext cx="13954128" cy="4122644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048336"/>
            <a:ext cx="13128449" cy="82345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6464879"/>
            <a:ext cx="14859003" cy="2234244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355268" y="1098591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806055" y="414745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6629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3201062"/>
            <a:ext cx="14859002" cy="376775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6986483"/>
            <a:ext cx="14856758" cy="1710966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14858997" cy="2857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712116" y="4011695"/>
            <a:ext cx="4795349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691878" y="5040395"/>
            <a:ext cx="4813103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72150" y="4016453"/>
            <a:ext cx="4776578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56320" y="5045153"/>
            <a:ext cx="4793745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663" y="4011695"/>
            <a:ext cx="4792452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778663" y="5040395"/>
            <a:ext cx="4792452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25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712117" y="914400"/>
            <a:ext cx="14858999" cy="2857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712120" y="6606894"/>
            <a:ext cx="479286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712120" y="4000497"/>
            <a:ext cx="479286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12120" y="7471288"/>
            <a:ext cx="4792860" cy="1226765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33580" y="6606894"/>
            <a:ext cx="480060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733580" y="4000497"/>
            <a:ext cx="479841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31390" y="7471286"/>
            <a:ext cx="4800600" cy="121551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851" y="6606893"/>
            <a:ext cx="4786112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778664" y="4000497"/>
            <a:ext cx="4792454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778663" y="7471281"/>
            <a:ext cx="4792452" cy="121551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3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66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63601" y="914399"/>
            <a:ext cx="3007517" cy="77724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5" y="914399"/>
            <a:ext cx="11622885" cy="77724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2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21432" y="1"/>
            <a:ext cx="18080832" cy="10287002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3374230"/>
            <a:ext cx="14858999" cy="531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85382" y="882491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7" y="8824913"/>
            <a:ext cx="935896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14482" y="8824912"/>
            <a:ext cx="115663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09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SzPct val="125000"/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314118">
            <a:off x="-2046524" y="3776605"/>
            <a:ext cx="7730547" cy="8766599"/>
          </a:xfrm>
          <a:custGeom>
            <a:avLst/>
            <a:gdLst/>
            <a:ahLst/>
            <a:cxnLst/>
            <a:rect l="l" t="t" r="r" b="b"/>
            <a:pathLst>
              <a:path w="7730547" h="8766599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262638">
            <a:off x="-2056903" y="5761004"/>
            <a:ext cx="7431557" cy="7772988"/>
          </a:xfrm>
          <a:custGeom>
            <a:avLst/>
            <a:gdLst/>
            <a:ahLst/>
            <a:cxnLst/>
            <a:rect l="l" t="t" r="r" b="b"/>
            <a:pathLst>
              <a:path w="7431557" h="7772988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0" y="6183247"/>
            <a:ext cx="7014639" cy="929247"/>
            <a:chOff x="0" y="0"/>
            <a:chExt cx="1847477" cy="2447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7477" cy="244740"/>
            </a:xfrm>
            <a:custGeom>
              <a:avLst/>
              <a:gdLst/>
              <a:ahLst/>
              <a:cxnLst/>
              <a:rect l="l" t="t" r="r" b="b"/>
              <a:pathLst>
                <a:path w="1847477" h="244740">
                  <a:moveTo>
                    <a:pt x="110368" y="0"/>
                  </a:moveTo>
                  <a:lnTo>
                    <a:pt x="1737109" y="0"/>
                  </a:lnTo>
                  <a:cubicBezTo>
                    <a:pt x="1766380" y="0"/>
                    <a:pt x="1794453" y="11628"/>
                    <a:pt x="1815151" y="32326"/>
                  </a:cubicBezTo>
                  <a:cubicBezTo>
                    <a:pt x="1835849" y="53024"/>
                    <a:pt x="1847477" y="81097"/>
                    <a:pt x="1847477" y="110368"/>
                  </a:cubicBezTo>
                  <a:lnTo>
                    <a:pt x="1847477" y="134372"/>
                  </a:lnTo>
                  <a:cubicBezTo>
                    <a:pt x="1847477" y="163643"/>
                    <a:pt x="1835849" y="191716"/>
                    <a:pt x="1815151" y="212414"/>
                  </a:cubicBezTo>
                  <a:cubicBezTo>
                    <a:pt x="1794453" y="233112"/>
                    <a:pt x="1766380" y="244740"/>
                    <a:pt x="1737109" y="244740"/>
                  </a:cubicBezTo>
                  <a:lnTo>
                    <a:pt x="110368" y="244740"/>
                  </a:lnTo>
                  <a:cubicBezTo>
                    <a:pt x="81097" y="244740"/>
                    <a:pt x="53024" y="233112"/>
                    <a:pt x="32326" y="212414"/>
                  </a:cubicBezTo>
                  <a:cubicBezTo>
                    <a:pt x="11628" y="191716"/>
                    <a:pt x="0" y="163643"/>
                    <a:pt x="0" y="134372"/>
                  </a:cubicBezTo>
                  <a:lnTo>
                    <a:pt x="0" y="110368"/>
                  </a:lnTo>
                  <a:cubicBezTo>
                    <a:pt x="0" y="81097"/>
                    <a:pt x="11628" y="53024"/>
                    <a:pt x="32326" y="32326"/>
                  </a:cubicBezTo>
                  <a:cubicBezTo>
                    <a:pt x="53024" y="11628"/>
                    <a:pt x="81097" y="0"/>
                    <a:pt x="11036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47477" cy="282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0291582">
            <a:off x="13219273" y="-1371032"/>
            <a:ext cx="6287330" cy="7129962"/>
          </a:xfrm>
          <a:custGeom>
            <a:avLst/>
            <a:gdLst/>
            <a:ahLst/>
            <a:cxnLst/>
            <a:rect l="l" t="t" r="r" b="b"/>
            <a:pathLst>
              <a:path w="6287330" h="7129962">
                <a:moveTo>
                  <a:pt x="0" y="0"/>
                </a:moveTo>
                <a:lnTo>
                  <a:pt x="6287331" y="0"/>
                </a:lnTo>
                <a:lnTo>
                  <a:pt x="6287331" y="7129962"/>
                </a:lnTo>
                <a:lnTo>
                  <a:pt x="0" y="7129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667411" y="6588786"/>
            <a:ext cx="4780864" cy="33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197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Bacha Kulcha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958281"/>
            <a:ext cx="1726777" cy="20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Presented by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6566" y="8958281"/>
            <a:ext cx="2546433" cy="2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9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Sujal Awasthi</a:t>
            </a:r>
          </a:p>
        </p:txBody>
      </p:sp>
      <p:sp>
        <p:nvSpPr>
          <p:cNvPr id="18" name="Freeform 32">
            <a:extLst>
              <a:ext uri="{FF2B5EF4-FFF2-40B4-BE49-F238E27FC236}">
                <a16:creationId xmlns:a16="http://schemas.microsoft.com/office/drawing/2014/main" id="{A249C8FF-2B45-74B5-E858-0E2D431A37F5}"/>
              </a:ext>
            </a:extLst>
          </p:cNvPr>
          <p:cNvSpPr/>
          <p:nvPr/>
        </p:nvSpPr>
        <p:spPr>
          <a:xfrm>
            <a:off x="5110744" y="20125"/>
            <a:ext cx="6629400" cy="6193002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92" b="-18254"/>
            </a:stretch>
          </a:blipFill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2BE70E-17B2-57D5-1C8D-81EAC19B0551}"/>
              </a:ext>
            </a:extLst>
          </p:cNvPr>
          <p:cNvSpPr txBox="1"/>
          <p:nvPr/>
        </p:nvSpPr>
        <p:spPr>
          <a:xfrm>
            <a:off x="3669074" y="6600944"/>
            <a:ext cx="119846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FF0000"/>
                </a:solidFill>
                <a:effectLst/>
                <a:latin typeface="Segoe WPC"/>
              </a:rPr>
              <a:t>"Zero Waste. Premium Taste."</a:t>
            </a:r>
            <a:endParaRPr lang="en-IN" sz="3200" b="0" i="0" dirty="0">
              <a:solidFill>
                <a:srgbClr val="FF0000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FF0000"/>
                </a:solidFill>
                <a:effectLst/>
                <a:latin typeface="Segoe WPC"/>
              </a:rPr>
              <a:t>"Rescuing the best. Redefining the rest."</a:t>
            </a:r>
            <a:endParaRPr lang="en-IN" sz="3200" b="0" i="0" dirty="0">
              <a:solidFill>
                <a:srgbClr val="FF0000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FF0000"/>
                </a:solidFill>
                <a:effectLst/>
                <a:latin typeface="Segoe WPC"/>
              </a:rPr>
              <a:t>"Because great food belongs on a plate, not in a landfill."</a:t>
            </a:r>
            <a:endParaRPr lang="en-IN" sz="3200" b="0" i="0" dirty="0">
              <a:solidFill>
                <a:srgbClr val="FF0000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FF0000"/>
                </a:solidFill>
                <a:effectLst/>
                <a:latin typeface="Segoe WPC"/>
              </a:rPr>
              <a:t>"Sustainability served premium."</a:t>
            </a:r>
            <a:endParaRPr lang="en-IN" sz="3200" b="0" i="0" dirty="0">
              <a:solidFill>
                <a:srgbClr val="FF0000"/>
              </a:solidFill>
              <a:effectLst/>
              <a:latin typeface="Segoe WP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21197" y="3419721"/>
            <a:ext cx="530436" cy="5304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21197" y="4138567"/>
            <a:ext cx="530436" cy="53043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21197" y="4857412"/>
            <a:ext cx="530436" cy="5304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21197" y="5576257"/>
            <a:ext cx="530436" cy="5304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21197" y="6295103"/>
            <a:ext cx="530436" cy="5304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21197" y="7013948"/>
            <a:ext cx="530436" cy="5304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21197" y="7732794"/>
            <a:ext cx="530436" cy="5304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538378" y="7845078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421197" y="8451639"/>
            <a:ext cx="530436" cy="53043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538378" y="8563923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60576" y="8601147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Team</a:t>
            </a:r>
          </a:p>
        </p:txBody>
      </p:sp>
      <p:sp>
        <p:nvSpPr>
          <p:cNvPr id="29" name="Freeform 29"/>
          <p:cNvSpPr/>
          <p:nvPr/>
        </p:nvSpPr>
        <p:spPr>
          <a:xfrm rot="-10800000">
            <a:off x="15063590" y="-1877456"/>
            <a:ext cx="4391419" cy="4979960"/>
          </a:xfrm>
          <a:custGeom>
            <a:avLst/>
            <a:gdLst/>
            <a:ahLst/>
            <a:cxnLst/>
            <a:rect l="l" t="t" r="r" b="b"/>
            <a:pathLst>
              <a:path w="4391419" h="4979960">
                <a:moveTo>
                  <a:pt x="0" y="0"/>
                </a:moveTo>
                <a:lnTo>
                  <a:pt x="4391420" y="0"/>
                </a:lnTo>
                <a:lnTo>
                  <a:pt x="4391420" y="4979960"/>
                </a:lnTo>
                <a:lnTo>
                  <a:pt x="0" y="4979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37658" y="5890582"/>
            <a:ext cx="10235751" cy="29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40"/>
              </a:lnSpc>
            </a:pPr>
            <a:r>
              <a:rPr lang="en-US" sz="12000" b="1" spc="-156" dirty="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List of Contents</a:t>
            </a:r>
          </a:p>
        </p:txBody>
      </p:sp>
      <p:sp>
        <p:nvSpPr>
          <p:cNvPr id="31" name="Freeform 31"/>
          <p:cNvSpPr/>
          <p:nvPr/>
        </p:nvSpPr>
        <p:spPr>
          <a:xfrm rot="7314118">
            <a:off x="6135841" y="6000003"/>
            <a:ext cx="6016318" cy="6822629"/>
          </a:xfrm>
          <a:custGeom>
            <a:avLst/>
            <a:gdLst/>
            <a:ahLst/>
            <a:cxnLst/>
            <a:rect l="l" t="t" r="r" b="b"/>
            <a:pathLst>
              <a:path w="6016318" h="6822629">
                <a:moveTo>
                  <a:pt x="0" y="0"/>
                </a:moveTo>
                <a:lnTo>
                  <a:pt x="6016318" y="0"/>
                </a:lnTo>
                <a:lnTo>
                  <a:pt x="6016318" y="6822629"/>
                </a:lnTo>
                <a:lnTo>
                  <a:pt x="0" y="6822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849978" y="1953573"/>
            <a:ext cx="4751013" cy="4669002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92" b="-18254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538378" y="3532005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38378" y="4250851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60576" y="3569229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 dirty="0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Problem Statement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60576" y="4288074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Solution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38378" y="4969696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360576" y="5006920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Why Now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38378" y="5688542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60576" y="5725765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Market Size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38378" y="6407387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360576" y="6444611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Market Research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538378" y="7126232"/>
            <a:ext cx="311200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308" b="1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360576" y="7163456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Bussiness Model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360576" y="7882301"/>
            <a:ext cx="3177945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09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Product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201486">
            <a:off x="12290109" y="1248869"/>
            <a:ext cx="9368655" cy="9799083"/>
          </a:xfrm>
          <a:custGeom>
            <a:avLst/>
            <a:gdLst/>
            <a:ahLst/>
            <a:cxnLst/>
            <a:rect l="l" t="t" r="r" b="b"/>
            <a:pathLst>
              <a:path w="9368655" h="9799083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614542">
            <a:off x="-4124265" y="-3151675"/>
            <a:ext cx="9368655" cy="9799083"/>
          </a:xfrm>
          <a:custGeom>
            <a:avLst/>
            <a:gdLst/>
            <a:ahLst/>
            <a:cxnLst/>
            <a:rect l="l" t="t" r="r" b="b"/>
            <a:pathLst>
              <a:path w="9368655" h="9799083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54170" y="2214759"/>
            <a:ext cx="14379660" cy="151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40"/>
              </a:lnSpc>
            </a:pPr>
            <a:r>
              <a:rPr lang="en-US" sz="12000" b="1" spc="-156" dirty="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Introduction</a:t>
            </a:r>
          </a:p>
        </p:txBody>
      </p:sp>
      <p:sp>
        <p:nvSpPr>
          <p:cNvPr id="12" name="Freeform 12"/>
          <p:cNvSpPr/>
          <p:nvPr/>
        </p:nvSpPr>
        <p:spPr>
          <a:xfrm rot="-670073">
            <a:off x="13966277" y="-2197165"/>
            <a:ext cx="6016318" cy="6822629"/>
          </a:xfrm>
          <a:custGeom>
            <a:avLst/>
            <a:gdLst/>
            <a:ahLst/>
            <a:cxnLst/>
            <a:rect l="l" t="t" r="r" b="b"/>
            <a:pathLst>
              <a:path w="6016318" h="6822629">
                <a:moveTo>
                  <a:pt x="0" y="0"/>
                </a:moveTo>
                <a:lnTo>
                  <a:pt x="6016318" y="0"/>
                </a:lnTo>
                <a:lnTo>
                  <a:pt x="6016318" y="6822628"/>
                </a:lnTo>
                <a:lnTo>
                  <a:pt x="0" y="6822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0D715-6EDA-304E-725C-73F7CFBB67BC}"/>
              </a:ext>
            </a:extLst>
          </p:cNvPr>
          <p:cNvSpPr txBox="1"/>
          <p:nvPr/>
        </p:nvSpPr>
        <p:spPr>
          <a:xfrm>
            <a:off x="1394162" y="4074040"/>
            <a:ext cx="149396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What It Is: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A dual-sided web platform (Marketplace) designed to rescue high-quality, surplus food before it goes to waste.</a:t>
            </a:r>
          </a:p>
          <a:p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How It Works: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We provide a dedicated 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Seller Portal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for restaurants/kitchens to list end-of-day surplus, and a 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Customer Portal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for users to browse, purchase, and pick up these premium meals at a fraction of the cost.</a:t>
            </a:r>
          </a:p>
          <a:p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The Technology Core: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Powered by a modern tech stack (React &amp; Node.js) featuring an intelligent, AI-driven dynamic pricing engine that automatically adjusts meal prices to ensure 100% clearance.</a:t>
            </a:r>
          </a:p>
          <a:p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The Vibe:</a:t>
            </a: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 Unlike traditional "bargain" apps, Bacha Kulcha focuses on a high-end, editorial aesthetic. We treat rescued food as a luxury, not a leftover.</a:t>
            </a:r>
          </a:p>
        </p:txBody>
      </p:sp>
      <p:sp>
        <p:nvSpPr>
          <p:cNvPr id="18" name="Freeform 32">
            <a:extLst>
              <a:ext uri="{FF2B5EF4-FFF2-40B4-BE49-F238E27FC236}">
                <a16:creationId xmlns:a16="http://schemas.microsoft.com/office/drawing/2014/main" id="{EE95787E-E6EE-EC41-4E0A-7CAFD256CD66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92941" y="2419957"/>
            <a:ext cx="10235751" cy="29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40"/>
              </a:lnSpc>
            </a:pPr>
            <a:r>
              <a:rPr lang="en-US" sz="12000" b="1" spc="-156" dirty="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 rot="-2201486">
            <a:off x="13263824" y="1583485"/>
            <a:ext cx="9368655" cy="9799083"/>
          </a:xfrm>
          <a:custGeom>
            <a:avLst/>
            <a:gdLst/>
            <a:ahLst/>
            <a:cxnLst/>
            <a:rect l="l" t="t" r="r" b="b"/>
            <a:pathLst>
              <a:path w="9368655" h="9799083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rot="9083533">
            <a:off x="-4457549" y="-2913361"/>
            <a:ext cx="9368655" cy="9799083"/>
          </a:xfrm>
          <a:custGeom>
            <a:avLst/>
            <a:gdLst/>
            <a:ahLst/>
            <a:cxnLst/>
            <a:rect l="l" t="t" r="r" b="b"/>
            <a:pathLst>
              <a:path w="9368655" h="9799083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586276" y="2234596"/>
            <a:ext cx="477924" cy="475317"/>
          </a:xfrm>
          <a:custGeom>
            <a:avLst/>
            <a:gdLst/>
            <a:ahLst/>
            <a:cxnLst/>
            <a:rect l="l" t="t" r="r" b="b"/>
            <a:pathLst>
              <a:path w="477924" h="475317">
                <a:moveTo>
                  <a:pt x="0" y="0"/>
                </a:moveTo>
                <a:lnTo>
                  <a:pt x="477924" y="0"/>
                </a:lnTo>
                <a:lnTo>
                  <a:pt x="477924" y="475317"/>
                </a:lnTo>
                <a:lnTo>
                  <a:pt x="0" y="475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BCBA912D-DC03-5AD3-36BE-79F8473017DD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92" b="-18254"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100C2D-0E44-969E-03FC-CC1F682F565D}"/>
              </a:ext>
            </a:extLst>
          </p:cNvPr>
          <p:cNvSpPr txBox="1"/>
          <p:nvPr/>
        </p:nvSpPr>
        <p:spPr>
          <a:xfrm>
            <a:off x="1777391" y="5477369"/>
            <a:ext cx="1439485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Massive Inefficiency: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Every day, high-quality restaurants, kitchens, and bakeries throw away perfectly good, unsold food simply because the business day has ended.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Economic Loss: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Restaurants lose out on the cost of ingredients and </a:t>
            </a:r>
            <a:r>
              <a:rPr lang="en-IN" sz="32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labor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for food that is never consumed.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Environmental Impact: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Food waste in landfills is a leading contributor to greenhouse gas emissions.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Disconnect: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Meanwhile, millions of urban consumers are actively seeking affordable, high-quality, and premium meal options but lack access to this surplus.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rot="-5916891">
            <a:off x="14077794" y="1904754"/>
            <a:ext cx="5281054" cy="5988824"/>
          </a:xfrm>
          <a:custGeom>
            <a:avLst/>
            <a:gdLst/>
            <a:ahLst/>
            <a:cxnLst/>
            <a:rect l="l" t="t" r="r" b="b"/>
            <a:pathLst>
              <a:path w="5281054" h="5988824">
                <a:moveTo>
                  <a:pt x="0" y="0"/>
                </a:moveTo>
                <a:lnTo>
                  <a:pt x="5281053" y="0"/>
                </a:lnTo>
                <a:lnTo>
                  <a:pt x="5281053" y="5988823"/>
                </a:lnTo>
                <a:lnTo>
                  <a:pt x="0" y="598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824181" y="1914679"/>
            <a:ext cx="12249136" cy="29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40"/>
              </a:lnSpc>
            </a:pPr>
            <a:r>
              <a:rPr lang="en-US" sz="12000" b="1" spc="-156" dirty="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Our Innovative Solutions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30758B-7BBB-B0EC-C435-173B812FCCC6}"/>
              </a:ext>
            </a:extLst>
          </p:cNvPr>
          <p:cNvSpPr txBox="1"/>
          <p:nvPr/>
        </p:nvSpPr>
        <p:spPr>
          <a:xfrm>
            <a:off x="1524000" y="5066962"/>
            <a:ext cx="13792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Bridge: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A sophisticated marketplace connecting kitchens with surplus food directly to environmentally and budget-conscious consumers.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AI-Driven Dynamic Pricing: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Our proprietary algorithm automatically optimizes the price of surplus food as the day ends to guarantee zero waste and maximize cost recovery for sellers.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Premium Experience: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We discard the "discount bin" stigma by offering a high-end, editorial user experience. Rescuing food feels like a luxury, not a compromise.</a:t>
            </a:r>
          </a:p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Seamless Operations:</a:t>
            </a:r>
            <a:r>
              <a:rPr lang="en-IN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Features an intuitive Seller Portal for quick listings and an OTP-verified Customer Portal for secure, frictionless handoffs.</a:t>
            </a:r>
          </a:p>
          <a:p>
            <a:endParaRPr lang="en-IN" sz="3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32">
            <a:extLst>
              <a:ext uri="{FF2B5EF4-FFF2-40B4-BE49-F238E27FC236}">
                <a16:creationId xmlns:a16="http://schemas.microsoft.com/office/drawing/2014/main" id="{78937D0A-B88C-F9B3-6879-981FA8337974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84413">
            <a:off x="13920256" y="3243808"/>
            <a:ext cx="5404669" cy="6129006"/>
          </a:xfrm>
          <a:custGeom>
            <a:avLst/>
            <a:gdLst/>
            <a:ahLst/>
            <a:cxnLst/>
            <a:rect l="l" t="t" r="r" b="b"/>
            <a:pathLst>
              <a:path w="5404669" h="6129006">
                <a:moveTo>
                  <a:pt x="0" y="0"/>
                </a:moveTo>
                <a:lnTo>
                  <a:pt x="5404669" y="0"/>
                </a:lnTo>
                <a:lnTo>
                  <a:pt x="5404669" y="6129006"/>
                </a:lnTo>
                <a:lnTo>
                  <a:pt x="0" y="6129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282421"/>
            <a:ext cx="16230600" cy="151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40"/>
              </a:lnSpc>
            </a:pPr>
            <a:r>
              <a:rPr lang="en-US" sz="12000" b="1" spc="-156" dirty="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WHY NOW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4231" y="5318163"/>
            <a:ext cx="4719538" cy="230918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C6CC3-1484-0C33-D7D9-87CC3F0B4743}"/>
              </a:ext>
            </a:extLst>
          </p:cNvPr>
          <p:cNvSpPr txBox="1"/>
          <p:nvPr/>
        </p:nvSpPr>
        <p:spPr>
          <a:xfrm>
            <a:off x="1414150" y="4305300"/>
            <a:ext cx="126066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Economic Pressure: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Inflation is driving consumers to seek smarter, more affordable ways to dine without sacrificing quality.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Sustainability Shift: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A rapidly growing demographic of Gen-Z and Millennial consumers actively prefer brands that offer tangible climate-positive actions.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Digital Maturity: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India's robust digital infrastructure and high adoption of app-based food delivery mean both restaurants and users are already trained for this </a:t>
            </a:r>
            <a:r>
              <a:rPr lang="en-IN" sz="36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behavior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32">
            <a:extLst>
              <a:ext uri="{FF2B5EF4-FFF2-40B4-BE49-F238E27FC236}">
                <a16:creationId xmlns:a16="http://schemas.microsoft.com/office/drawing/2014/main" id="{AA824E98-61B4-7751-FE88-9D637227A35B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508360" y="1098689"/>
            <a:ext cx="6562051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9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Market Size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83479-651E-A65D-BB52-DB21C4FFBBAF}"/>
              </a:ext>
            </a:extLst>
          </p:cNvPr>
          <p:cNvSpPr txBox="1"/>
          <p:nvPr/>
        </p:nvSpPr>
        <p:spPr>
          <a:xfrm>
            <a:off x="2286000" y="3543300"/>
            <a:ext cx="14097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TAM (Total Addressable Market):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The entire Indian food service industry (Restaurants, Cloud Kitchens, Bakeries) – </a:t>
            </a:r>
            <a:r>
              <a:rPr lang="en-IN" sz="36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~$65 Billion.</a:t>
            </a:r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SAM (Serviceable Available Market):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Tech-enabled food delivery users and digitally active urban eateries.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SOM (Serviceable Obtainable Market):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Environmentally conscious and value-seeking consumers in our initial Tier 1 launch cities (e.g., Delhi NCR, Mumbai, Bangalore).</a:t>
            </a:r>
          </a:p>
          <a:p>
            <a:r>
              <a:rPr lang="en-IN" sz="36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Note: In India alone, food worth billions is wasted annually across the supply chain. Capturing even 1% of the retail surplus is a massive revenue opportunity.</a:t>
            </a:r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9" name="Freeform 32">
            <a:extLst>
              <a:ext uri="{FF2B5EF4-FFF2-40B4-BE49-F238E27FC236}">
                <a16:creationId xmlns:a16="http://schemas.microsoft.com/office/drawing/2014/main" id="{EF4FB11B-4B90-5F22-8FFA-1E3D99B3098D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53000" y="1354672"/>
            <a:ext cx="8685836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9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Market Research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79F0B-D1E3-04FE-A834-32087FD37FC0}"/>
              </a:ext>
            </a:extLst>
          </p:cNvPr>
          <p:cNvSpPr txBox="1"/>
          <p:nvPr/>
        </p:nvSpPr>
        <p:spPr>
          <a:xfrm>
            <a:off x="2133600" y="3695700"/>
            <a:ext cx="140208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Vendor Validation:</a:t>
            </a:r>
            <a:r>
              <a:rPr lang="en-IN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Restaurants operate on razor-thin margins. Recovering </a:t>
            </a:r>
            <a:r>
              <a:rPr lang="en-IN" sz="4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any</a:t>
            </a:r>
            <a:r>
              <a:rPr lang="en-IN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cost on food that would otherwise go to the bin goes straight to their bottom line.</a:t>
            </a:r>
          </a:p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Consumer Validation:</a:t>
            </a:r>
            <a:r>
              <a:rPr lang="en-IN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Users exhibit high enthusiasm for eating premium restaurant food at a 50-70% discount.</a:t>
            </a:r>
          </a:p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Competitive Landscape:</a:t>
            </a:r>
            <a:r>
              <a:rPr lang="en-IN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Existing giants (Zomato, Swiggy) are optimized for made-to-order </a:t>
            </a:r>
            <a:r>
              <a:rPr lang="en-IN" sz="4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fulfillment</a:t>
            </a:r>
            <a:r>
              <a:rPr lang="en-IN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not time-sensitive, unpredictable surplus inventory. Bacha Kulcha owns the "end-of-day" niche.</a:t>
            </a:r>
          </a:p>
          <a:p>
            <a:endParaRPr lang="en-IN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Freeform 32">
            <a:extLst>
              <a:ext uri="{FF2B5EF4-FFF2-40B4-BE49-F238E27FC236}">
                <a16:creationId xmlns:a16="http://schemas.microsoft.com/office/drawing/2014/main" id="{7718C343-CFE6-D935-C1C9-3FABDF0591F1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76537" y="404200"/>
            <a:ext cx="811530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9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Business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38A91E-F977-A5D7-1EF7-3D2FEBD080B4}"/>
              </a:ext>
            </a:extLst>
          </p:cNvPr>
          <p:cNvSpPr txBox="1"/>
          <p:nvPr/>
        </p:nvSpPr>
        <p:spPr>
          <a:xfrm>
            <a:off x="2362200" y="2552700"/>
            <a:ext cx="1432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Transaction Commission: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We take a flat percentage fee on every rescued meal processed through the Bacha Kulcha platform. It's a win-win: restaurants recover sunk costs, and we monetize the rescue.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Bacha Kulcha PRO (Future):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A low-cost consumer subscription offering early-access notifications for high-demand drops (e.g., premium bakeries, popular cloud kitchens).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B2B Waste Analytics (Future):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Providing restaurants with data insights on their surplus patterns to help them optimize initial production and reduce systemic waste.</a:t>
            </a:r>
          </a:p>
          <a:p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Freeform 32">
            <a:extLst>
              <a:ext uri="{FF2B5EF4-FFF2-40B4-BE49-F238E27FC236}">
                <a16:creationId xmlns:a16="http://schemas.microsoft.com/office/drawing/2014/main" id="{48274B80-B943-41B1-C67B-C0AFFF644228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14784" y="760892"/>
            <a:ext cx="8115300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00"/>
              </a:lnSpc>
            </a:pPr>
            <a:r>
              <a:rPr lang="en-IN" sz="9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Product</a:t>
            </a:r>
          </a:p>
          <a:p>
            <a:pPr marL="0" lvl="0" indent="0" algn="l">
              <a:lnSpc>
                <a:spcPts val="9200"/>
              </a:lnSpc>
            </a:pPr>
            <a:endParaRPr lang="en-US" sz="10000" b="1" spc="-130" dirty="0">
              <a:solidFill>
                <a:srgbClr val="377272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8DECA-0004-3D82-B2E8-D467BAFF3EC9}"/>
              </a:ext>
            </a:extLst>
          </p:cNvPr>
          <p:cNvSpPr txBox="1"/>
          <p:nvPr/>
        </p:nvSpPr>
        <p:spPr>
          <a:xfrm>
            <a:off x="2438400" y="2705100"/>
            <a:ext cx="14249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Cinematic UI/UX: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A distinct, high-end visual design that elevates the perception of rescued food.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Kitchen/Seller Portal: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Frictionless onboarding, one-click inventory listing, and real-time order management tailored for busy kitchen staff.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Customer Portal: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Real-time tracking, transparent ratings, past order history, and a seamless payment loop.</a:t>
            </a:r>
          </a:p>
          <a:p>
            <a:r>
              <a:rPr lang="en-IN" sz="3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Secure Infrastructure:</a:t>
            </a:r>
            <a:r>
              <a:rPr lang="en-IN" sz="3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Built on a robust React/Node.js stack with secure OTP verification to ensure the right food gets to the right person every time.</a:t>
            </a:r>
          </a:p>
          <a:p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Freeform 32">
            <a:extLst>
              <a:ext uri="{FF2B5EF4-FFF2-40B4-BE49-F238E27FC236}">
                <a16:creationId xmlns:a16="http://schemas.microsoft.com/office/drawing/2014/main" id="{F0923ED1-064F-6A51-FF52-12BC30E5DA65}"/>
              </a:ext>
            </a:extLst>
          </p:cNvPr>
          <p:cNvSpPr/>
          <p:nvPr/>
        </p:nvSpPr>
        <p:spPr>
          <a:xfrm>
            <a:off x="226778" y="29556"/>
            <a:ext cx="2604777" cy="236229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958474"/>
            <a:ext cx="385450" cy="478549"/>
          </a:xfrm>
          <a:custGeom>
            <a:avLst/>
            <a:gdLst/>
            <a:ahLst/>
            <a:cxnLst/>
            <a:rect l="l" t="t" r="r" b="b"/>
            <a:pathLst>
              <a:path w="385450" h="478549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71166" y="588221"/>
            <a:ext cx="14263754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endParaRPr lang="en-IN" dirty="0"/>
          </a:p>
          <a:p>
            <a:pPr algn="ctr">
              <a:lnSpc>
                <a:spcPts val="9200"/>
              </a:lnSpc>
            </a:pPr>
            <a:r>
              <a:rPr lang="en-IN" sz="9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Team</a:t>
            </a:r>
          </a:p>
          <a:p>
            <a:pPr algn="ctr">
              <a:lnSpc>
                <a:spcPts val="9200"/>
              </a:lnSpc>
            </a:pPr>
            <a:endParaRPr lang="en-US" sz="10000" b="1" spc="-130" dirty="0">
              <a:solidFill>
                <a:srgbClr val="377272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85078" y="4990682"/>
            <a:ext cx="2917845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200" b="1" spc="-210" dirty="0">
                <a:solidFill>
                  <a:srgbClr val="EFF0E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2018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29400" y="3314700"/>
            <a:ext cx="4618878" cy="77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IN" sz="4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 The Minds Behind Bacha Kulcha</a:t>
            </a:r>
            <a:endParaRPr lang="en-US" sz="4000" dirty="0">
              <a:solidFill>
                <a:schemeClr val="bg1">
                  <a:lumMod val="95000"/>
                  <a:lumOff val="5000"/>
                </a:schemeClr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A6E8EC-61C2-40F8-AF68-2B1D5072E299}"/>
              </a:ext>
            </a:extLst>
          </p:cNvPr>
          <p:cNvSpPr txBox="1"/>
          <p:nvPr/>
        </p:nvSpPr>
        <p:spPr>
          <a:xfrm>
            <a:off x="1414150" y="4412437"/>
            <a:ext cx="5562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Sujal Awasthi</a:t>
            </a:r>
          </a:p>
          <a:p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Lead Developer &amp; Founder - Architected the complete decoupling of the platform into a modern React/Node.js stack.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BAD9D2-5906-B325-0130-587AF7CFA4E5}"/>
              </a:ext>
            </a:extLst>
          </p:cNvPr>
          <p:cNvSpPr txBox="1"/>
          <p:nvPr/>
        </p:nvSpPr>
        <p:spPr>
          <a:xfrm>
            <a:off x="6976750" y="4585066"/>
            <a:ext cx="6019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Priyanshu Watts</a:t>
            </a:r>
          </a:p>
          <a:p>
            <a:r>
              <a:rPr lang="en-IN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Architect of the Bacha Kulcha backend. Built the secure Node.js infrastructure, the AI-driven pricing algorithm, and the Firebase database syncing.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B5D98-E742-68F9-0DCD-CE08FC0624F1}"/>
              </a:ext>
            </a:extLst>
          </p:cNvPr>
          <p:cNvSpPr txBox="1"/>
          <p:nvPr/>
        </p:nvSpPr>
        <p:spPr>
          <a:xfrm>
            <a:off x="13563600" y="4412437"/>
            <a:ext cx="472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Sudhanshu</a:t>
            </a:r>
          </a:p>
          <a:p>
            <a:r>
              <a:rPr lang="en-IN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Leads business development and strategy. Focuses on market research, financial </a:t>
            </a:r>
            <a:r>
              <a:rPr lang="en-IN" sz="2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modeling</a:t>
            </a:r>
            <a:r>
              <a:rPr lang="en-IN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building scalable B2B relationships with restaurant partners.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1A86BD-E170-EC10-B393-052FBB7056CD}"/>
              </a:ext>
            </a:extLst>
          </p:cNvPr>
          <p:cNvSpPr txBox="1"/>
          <p:nvPr/>
        </p:nvSpPr>
        <p:spPr>
          <a:xfrm>
            <a:off x="1414150" y="7411065"/>
            <a:ext cx="42724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Naresh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Manages the physical execution of the platform. Ensures seamless kitchen onboarding, handles vendor support, and guarantees smooth OTP handoffs between kitchens and customers.</a:t>
            </a:r>
            <a:endParaRPr lang="en-IN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232686-6B5E-3D8E-EF81-0B8456B66E1D}"/>
              </a:ext>
            </a:extLst>
          </p:cNvPr>
          <p:cNvSpPr txBox="1"/>
          <p:nvPr/>
        </p:nvSpPr>
        <p:spPr>
          <a:xfrm>
            <a:off x="6629400" y="7124700"/>
            <a:ext cx="5410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Sahil</a:t>
            </a:r>
          </a:p>
          <a:p>
            <a:r>
              <a:rPr lang="en-IN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creative force behind the brand. Designed the cinematic, premium web interfaces (React/TypeScript) ensuring the platform feels like a luxury experience rather than a bargain bin.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ED83E-D377-BE8B-DF81-984DA5A7EEB9}"/>
              </a:ext>
            </a:extLst>
          </p:cNvPr>
          <p:cNvSpPr txBox="1"/>
          <p:nvPr/>
        </p:nvSpPr>
        <p:spPr>
          <a:xfrm>
            <a:off x="12996550" y="7124700"/>
            <a:ext cx="4910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Satyam </a:t>
            </a:r>
            <a:r>
              <a:rPr lang="en-IN" sz="2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sharma</a:t>
            </a:r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IN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Drives user acquisition and platform adoption. Manages the go-to-market strategy, social campaigns, and user retention to ensure both sides of the marketplace scale simultaneously.</a:t>
            </a:r>
          </a:p>
        </p:txBody>
      </p:sp>
      <p:sp>
        <p:nvSpPr>
          <p:cNvPr id="29" name="Freeform 32">
            <a:extLst>
              <a:ext uri="{FF2B5EF4-FFF2-40B4-BE49-F238E27FC236}">
                <a16:creationId xmlns:a16="http://schemas.microsoft.com/office/drawing/2014/main" id="{190E917B-E4F2-7B1C-BA3F-FEA682F47205}"/>
              </a:ext>
            </a:extLst>
          </p:cNvPr>
          <p:cNvSpPr/>
          <p:nvPr/>
        </p:nvSpPr>
        <p:spPr>
          <a:xfrm>
            <a:off x="22123" y="29704"/>
            <a:ext cx="2743200" cy="2492990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92" b="-18254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32">
            <a:extLst>
              <a:ext uri="{FF2B5EF4-FFF2-40B4-BE49-F238E27FC236}">
                <a16:creationId xmlns:a16="http://schemas.microsoft.com/office/drawing/2014/main" id="{B89DD205-911A-AAC8-DAB9-90703B2777AD}"/>
              </a:ext>
            </a:extLst>
          </p:cNvPr>
          <p:cNvSpPr/>
          <p:nvPr/>
        </p:nvSpPr>
        <p:spPr>
          <a:xfrm>
            <a:off x="5594274" y="495300"/>
            <a:ext cx="5976458" cy="5497173"/>
          </a:xfrm>
          <a:custGeom>
            <a:avLst/>
            <a:gdLst/>
            <a:ahLst/>
            <a:cxnLst/>
            <a:rect l="l" t="t" r="r" b="b"/>
            <a:pathLst>
              <a:path w="4751013" h="4669002">
                <a:moveTo>
                  <a:pt x="0" y="0"/>
                </a:moveTo>
                <a:lnTo>
                  <a:pt x="4751012" y="0"/>
                </a:lnTo>
                <a:lnTo>
                  <a:pt x="4751012" y="4669003"/>
                </a:lnTo>
                <a:lnTo>
                  <a:pt x="0" y="466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792" b="-18254"/>
            </a:stretch>
          </a:blipFill>
        </p:spPr>
      </p:sp>
      <p:sp>
        <p:nvSpPr>
          <p:cNvPr id="2" name="Freeform 2"/>
          <p:cNvSpPr/>
          <p:nvPr/>
        </p:nvSpPr>
        <p:spPr>
          <a:xfrm rot="7314118">
            <a:off x="-1993389" y="4184786"/>
            <a:ext cx="7730547" cy="8766599"/>
          </a:xfrm>
          <a:custGeom>
            <a:avLst/>
            <a:gdLst/>
            <a:ahLst/>
            <a:cxnLst/>
            <a:rect l="l" t="t" r="r" b="b"/>
            <a:pathLst>
              <a:path w="7730547" h="8766599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262638">
            <a:off x="-2673050" y="5734666"/>
            <a:ext cx="7431557" cy="7772988"/>
          </a:xfrm>
          <a:custGeom>
            <a:avLst/>
            <a:gdLst/>
            <a:ahLst/>
            <a:cxnLst/>
            <a:rect l="l" t="t" r="r" b="b"/>
            <a:pathLst>
              <a:path w="7431557" h="7772988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90700" y="5043354"/>
            <a:ext cx="11975624" cy="254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81"/>
              </a:lnSpc>
            </a:pPr>
            <a:r>
              <a:rPr lang="en-US" sz="9900" b="1" spc="-330" dirty="0">
                <a:solidFill>
                  <a:srgbClr val="00B05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942089"/>
            <a:ext cx="2552700" cy="205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439"/>
              </a:lnSpc>
              <a:spcBef>
                <a:spcPct val="0"/>
              </a:spcBef>
            </a:pPr>
            <a:r>
              <a:rPr lang="en-US" sz="2400" dirty="0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Presented by 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783514" y="8202552"/>
            <a:ext cx="5599961" cy="1860479"/>
            <a:chOff x="0" y="0"/>
            <a:chExt cx="1207649" cy="490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7649" cy="490003"/>
            </a:xfrm>
            <a:custGeom>
              <a:avLst/>
              <a:gdLst/>
              <a:ahLst/>
              <a:cxnLst/>
              <a:rect l="l" t="t" r="r" b="b"/>
              <a:pathLst>
                <a:path w="1207649" h="490003">
                  <a:moveTo>
                    <a:pt x="50653" y="0"/>
                  </a:moveTo>
                  <a:lnTo>
                    <a:pt x="1156996" y="0"/>
                  </a:lnTo>
                  <a:cubicBezTo>
                    <a:pt x="1184971" y="0"/>
                    <a:pt x="1207649" y="22678"/>
                    <a:pt x="1207649" y="50653"/>
                  </a:cubicBezTo>
                  <a:lnTo>
                    <a:pt x="1207649" y="439350"/>
                  </a:lnTo>
                  <a:cubicBezTo>
                    <a:pt x="1207649" y="452784"/>
                    <a:pt x="1202312" y="465668"/>
                    <a:pt x="1192813" y="475167"/>
                  </a:cubicBezTo>
                  <a:cubicBezTo>
                    <a:pt x="1183314" y="484666"/>
                    <a:pt x="1170430" y="490003"/>
                    <a:pt x="1156996" y="490003"/>
                  </a:cubicBezTo>
                  <a:lnTo>
                    <a:pt x="50653" y="490003"/>
                  </a:lnTo>
                  <a:cubicBezTo>
                    <a:pt x="22678" y="490003"/>
                    <a:pt x="0" y="467325"/>
                    <a:pt x="0" y="439350"/>
                  </a:cubicBezTo>
                  <a:lnTo>
                    <a:pt x="0" y="50653"/>
                  </a:lnTo>
                  <a:cubicBezTo>
                    <a:pt x="0" y="22678"/>
                    <a:pt x="22678" y="0"/>
                    <a:pt x="50653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07649" cy="528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098080" y="9248372"/>
            <a:ext cx="2400761" cy="37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spc="-79" dirty="0">
                <a:solidFill>
                  <a:srgbClr val="163B42"/>
                </a:solidFill>
                <a:latin typeface="Proxima Nova"/>
                <a:ea typeface="Proxima Nova"/>
                <a:cs typeface="Proxima Nova"/>
                <a:sym typeface="Proxima Nova"/>
              </a:rPr>
              <a:t>+91 8299863066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15810" y="8496400"/>
            <a:ext cx="4375039" cy="360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spc="-79" dirty="0">
                <a:solidFill>
                  <a:srgbClr val="163B42"/>
                </a:solidFill>
                <a:latin typeface="Proxima Nova"/>
                <a:ea typeface="Proxima Nova"/>
                <a:cs typeface="Proxima Nova"/>
                <a:sym typeface="Proxima Nova"/>
              </a:rPr>
              <a:t>sujalawasthi299792458@gmail.com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228329" y="9222562"/>
            <a:ext cx="424936" cy="424936"/>
          </a:xfrm>
          <a:custGeom>
            <a:avLst/>
            <a:gdLst/>
            <a:ahLst/>
            <a:cxnLst/>
            <a:rect l="l" t="t" r="r" b="b"/>
            <a:pathLst>
              <a:path w="424936" h="424936">
                <a:moveTo>
                  <a:pt x="0" y="0"/>
                </a:moveTo>
                <a:lnTo>
                  <a:pt x="424936" y="0"/>
                </a:lnTo>
                <a:lnTo>
                  <a:pt x="424936" y="424936"/>
                </a:lnTo>
                <a:lnTo>
                  <a:pt x="0" y="424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223577" y="8512401"/>
            <a:ext cx="429688" cy="429688"/>
          </a:xfrm>
          <a:custGeom>
            <a:avLst/>
            <a:gdLst/>
            <a:ahLst/>
            <a:cxnLst/>
            <a:rect l="l" t="t" r="r" b="b"/>
            <a:pathLst>
              <a:path w="429688" h="429688">
                <a:moveTo>
                  <a:pt x="0" y="0"/>
                </a:moveTo>
                <a:lnTo>
                  <a:pt x="429688" y="0"/>
                </a:lnTo>
                <a:lnTo>
                  <a:pt x="429688" y="429688"/>
                </a:lnTo>
                <a:lnTo>
                  <a:pt x="0" y="429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196021" y="8926233"/>
            <a:ext cx="4301365" cy="322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97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Sujal  Awasthi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56</TotalTime>
  <Words>1026</Words>
  <Application>Microsoft Office PowerPoint</Application>
  <PresentationFormat>Custom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Proxima Nova</vt:lpstr>
      <vt:lpstr>Aileron</vt:lpstr>
      <vt:lpstr>Arial</vt:lpstr>
      <vt:lpstr>Segoe WPC</vt:lpstr>
      <vt:lpstr>Bricolage Grotesque Bold</vt:lpstr>
      <vt:lpstr>Aileron Bold</vt:lpstr>
      <vt:lpstr>Tw Cen MT</vt:lpstr>
      <vt:lpstr>Canva Sans Bold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Simple Startup Pitch Deck Business Presentation</dc:title>
  <dc:creator>Sujal Awasthi</dc:creator>
  <cp:lastModifiedBy>Sujal Awasthi</cp:lastModifiedBy>
  <cp:revision>3</cp:revision>
  <dcterms:created xsi:type="dcterms:W3CDTF">2006-08-16T00:00:00Z</dcterms:created>
  <dcterms:modified xsi:type="dcterms:W3CDTF">2026-06-11T04:52:40Z</dcterms:modified>
  <dc:identifier>DAHL-dbCRuM</dc:identifier>
</cp:coreProperties>
</file>